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65" r:id="rId8"/>
    <p:sldId id="259" r:id="rId9"/>
    <p:sldId id="268" r:id="rId10"/>
    <p:sldId id="260" r:id="rId11"/>
    <p:sldId id="263" r:id="rId12"/>
    <p:sldId id="262" r:id="rId13"/>
    <p:sldId id="261" r:id="rId14"/>
    <p:sldId id="269" r:id="rId15"/>
    <p:sldId id="264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503EC8-EEAB-FC4C-A5FD-771A8070759E}" v="1" dt="2025-02-17T10:48:13.6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629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237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275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80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97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171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653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30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45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61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39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271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EFFB-D34D-2432-CED8-684E7FDE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design pack?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CF8C-6AA6-0697-467B-610EA5D23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 this section you need to "design" how the whole system will look / work / store data etc.</a:t>
            </a:r>
          </a:p>
          <a:p>
            <a:r>
              <a:rPr lang="en-US" dirty="0"/>
              <a:t>WITH ALL of your thoughts / decisions recorded and justified</a:t>
            </a:r>
          </a:p>
          <a:p>
            <a:endParaRPr lang="en-US" dirty="0"/>
          </a:p>
          <a:p>
            <a:r>
              <a:rPr lang="en-US" dirty="0"/>
              <a:t>Your designs need to be detailed enough that you could give your design pack to someone else and they should be able to build what you have envisioned.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8887-78CD-2250-A135-A67A4F1F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48A7C-B89B-4ADD-B629-687D2B743A06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275A7-F582-1732-8F92-EB70BE54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3ABE8-9EFA-ED30-F1BB-3E17AE89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45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1072-E4BD-FA38-74E5-1F01CDA8E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Organisation</a:t>
            </a:r>
            <a:r>
              <a:rPr lang="en-US" dirty="0"/>
              <a:t> of your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7D4F-7CAC-4408-97E7-D5AC57858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There is no set order to a design section,</a:t>
            </a:r>
          </a:p>
          <a:p>
            <a:endParaRPr lang="en-US" dirty="0"/>
          </a:p>
          <a:p>
            <a:r>
              <a:rPr lang="en-US" dirty="0"/>
              <a:t>Order them how you feel works for you</a:t>
            </a:r>
          </a:p>
          <a:p>
            <a:endParaRPr lang="en-US" dirty="0"/>
          </a:p>
          <a:p>
            <a:r>
              <a:rPr lang="en-US" dirty="0"/>
              <a:t>Just remember to have commentary of your decisions and reasoning (linked to the functional and non-functional criteria you have identified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C2BEB-6373-75A2-A0DC-AFDBAA60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8D629-5238-44EB-BF1E-79DD1BD32521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95B31-4262-3B3F-D371-9C8A84F6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7D07A-AE07-5E63-10BA-A9F473750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573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0C2B-4797-E2D0-0DF0-8B59201FE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/ Decomposition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0B162-D75B-F6ED-04D7-41D3C6E2D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Have a large flow chart style diagram which shows the overall structure of your site and link to database and how information will flow. </a:t>
            </a:r>
          </a:p>
          <a:p>
            <a:r>
              <a:rPr lang="en-US" dirty="0"/>
              <a:t>Explain the diagram and what it shows. </a:t>
            </a:r>
          </a:p>
          <a:p>
            <a:endParaRPr lang="en-US" dirty="0"/>
          </a:p>
          <a:p>
            <a:r>
              <a:rPr lang="en-US" dirty="0"/>
              <a:t>SHOULD BE THE FIRST THING IN THE DESIGN SECTION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F6FF6-C5C2-DB19-DF28-EEF68C38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BF42-5EC9-4D8C-AAC6-4873DF5581DB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35AAF-0541-E095-0E09-C0B685CF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E93B4-EA87-4974-81C0-F2FA1C1D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86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6FED-203D-82AD-F821-C311E906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 for your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B5605-C247-13ED-974A-4191FF4E18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Build an ER Diagram showing the entities (tables) you will have and the types of connections they will have (1 to many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Justify / explain how you have come up with this and why it will be the best design for the solution you are working towards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F9BEB-13E8-2CC8-BF7A-0FB8E61BD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27D72-57C2-40A4-B111-0C1835481F71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F576B-99D9-0CBD-5F7D-3125BCA8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CC582-6B1A-BF3B-6C92-5E7F5396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47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A15E9-9B6E-8E29-2265-3B8B59CA1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C5E41-F975-856D-9450-27F083FDE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Show an overview, with your database shown as well, and how data will flow between various pages and into / out of the database. </a:t>
            </a:r>
          </a:p>
          <a:p>
            <a:r>
              <a:rPr lang="en-US" dirty="0"/>
              <a:t>e.g. Showing how the </a:t>
            </a:r>
            <a:r>
              <a:rPr lang="en-US" dirty="0" err="1"/>
              <a:t>userid</a:t>
            </a:r>
            <a:r>
              <a:rPr lang="en-US" dirty="0"/>
              <a:t> will be "flow" between pages, which is initially collected from database when a user logs in.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2E906-DB07-CB5B-15DB-98EADE59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455D0-4A08-4B0F-84A1-A187777B8494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2E54C-5280-7DD9-D9DE-AE3ECDB06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FA614-1276-312E-6CE9-63B5422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438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2DA2-DC55-177B-6CB3-73BD9358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structure (data Dictionary)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2024F-947F-DD19-D3B6-4266197B4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Give a list of the fields (columns) you will have in each table, including primary key and foreign keys</a:t>
            </a:r>
          </a:p>
          <a:p>
            <a:r>
              <a:rPr lang="en-US" dirty="0"/>
              <a:t>List the data type you will use for each of the fields and justify your decisions. </a:t>
            </a:r>
          </a:p>
          <a:p>
            <a:r>
              <a:rPr lang="en-US" dirty="0"/>
              <a:t>Give an example of a piece of data that will be stored in each of the fields.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C1B52-292E-2501-8731-32FA3AB27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6A8C-DE20-45AB-976E-D484D40B6382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33832-7223-4FEF-A4AE-968214C5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86395-2988-84AC-0599-554B6B06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897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0A6E-41DF-AAB4-0F9C-A768380B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Structures / Variables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AE67-A44C-0EEA-AF32-1958CCCE4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need to build a table of all the variables you think you will need, probably best done after the rest of the design, or as you are designing. </a:t>
            </a:r>
          </a:p>
          <a:p>
            <a:r>
              <a:rPr lang="en-US" dirty="0"/>
              <a:t>Example table for you to use: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0F02-8196-F669-170D-2DD391304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534D7-0083-4B4B-931B-121D2F809A00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D1403-5BF3-0D4A-CAEF-9BF4576D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8E77D-B87F-E186-AED5-937719D1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29086D1-68E6-66AF-9DD2-53CE5BBDD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804934"/>
              </p:ext>
            </p:extLst>
          </p:nvPr>
        </p:nvGraphicFramePr>
        <p:xfrm>
          <a:off x="1960880" y="3545840"/>
          <a:ext cx="81787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4132175413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1752298913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4120557188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3129524911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3044514832"/>
                    </a:ext>
                  </a:extLst>
                </a:gridCol>
                <a:gridCol w="1361439">
                  <a:extLst>
                    <a:ext uri="{9D8B030D-6E8A-4147-A177-3AD203B41FA5}">
                      <a16:colId xmlns:a16="http://schemas.microsoft.com/office/drawing/2014/main" val="3281366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Variable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Where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65486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 err="1"/>
                        <a:t>Dbcursor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Global, but passed as a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Database cursor type (Object)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Across the whole 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This is a needed element to work with / on getting data into and out of the database.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597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20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5D492-CB48-1BB8-9361-D6D8020B1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Colour</a:t>
            </a:r>
            <a:r>
              <a:rPr lang="en-US" dirty="0"/>
              <a:t> Scheme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5B0CF-5FAC-EA18-8EE1-BFC509D24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Show what </a:t>
            </a:r>
            <a:r>
              <a:rPr lang="en-US" dirty="0" err="1"/>
              <a:t>colours</a:t>
            </a:r>
            <a:r>
              <a:rPr lang="en-US" dirty="0"/>
              <a:t> you intend to use in your website</a:t>
            </a:r>
          </a:p>
          <a:p>
            <a:r>
              <a:rPr lang="en-US" dirty="0"/>
              <a:t>Make use of a </a:t>
            </a:r>
            <a:r>
              <a:rPr lang="en-US" dirty="0" err="1"/>
              <a:t>colour</a:t>
            </a:r>
            <a:r>
              <a:rPr lang="en-US" dirty="0"/>
              <a:t> picker to choose complimenting </a:t>
            </a:r>
            <a:r>
              <a:rPr lang="en-US" dirty="0" err="1"/>
              <a:t>colours</a:t>
            </a:r>
            <a:r>
              <a:rPr lang="en-US" dirty="0"/>
              <a:t> into a </a:t>
            </a:r>
            <a:r>
              <a:rPr lang="en-US" dirty="0" err="1"/>
              <a:t>palatte</a:t>
            </a:r>
          </a:p>
          <a:p>
            <a:r>
              <a:rPr lang="en-US" dirty="0"/>
              <a:t>Justify how these </a:t>
            </a:r>
            <a:r>
              <a:rPr lang="en-US" dirty="0" err="1"/>
              <a:t>colours</a:t>
            </a:r>
            <a:r>
              <a:rPr lang="en-US" dirty="0"/>
              <a:t> link to each other and to the theme of the scenario</a:t>
            </a:r>
          </a:p>
          <a:p>
            <a:r>
              <a:rPr lang="en-US" dirty="0"/>
              <a:t>Explain where you are likely to use each of them e.g. font </a:t>
            </a:r>
            <a:r>
              <a:rPr lang="en-US" dirty="0" err="1"/>
              <a:t>colour</a:t>
            </a:r>
            <a:r>
              <a:rPr lang="en-US" dirty="0"/>
              <a:t>, heading </a:t>
            </a:r>
            <a:r>
              <a:rPr lang="en-US" dirty="0" err="1"/>
              <a:t>colours</a:t>
            </a:r>
            <a:r>
              <a:rPr lang="en-US" dirty="0"/>
              <a:t> etc.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F0ED3-318B-2023-1E23-922C4C7B2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4F307-DB90-4CE8-9889-D4B8B9B76F29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94590-68C1-E005-7F89-AE6CE0C5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FCC56-A1C4-C52E-D6FB-3F555FE24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64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E778-A4C4-0E78-A41D-0596CF52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91F9-0686-AA55-F1F7-F8B903D2E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 a tool like </a:t>
            </a:r>
            <a:r>
              <a:rPr lang="en-US" dirty="0" err="1"/>
              <a:t>figma</a:t>
            </a:r>
            <a:r>
              <a:rPr lang="en-US" dirty="0"/>
              <a:t> </a:t>
            </a:r>
            <a:r>
              <a:rPr lang="en-US" dirty="0" err="1"/>
              <a:t>etc</a:t>
            </a:r>
            <a:r>
              <a:rPr lang="en-US" dirty="0"/>
              <a:t> to mock up what you intend to make the solution look like</a:t>
            </a:r>
          </a:p>
          <a:p>
            <a:r>
              <a:rPr lang="en-US" dirty="0"/>
              <a:t>Make use of your intended </a:t>
            </a:r>
            <a:r>
              <a:rPr lang="en-US" dirty="0" err="1"/>
              <a:t>colour</a:t>
            </a:r>
            <a:r>
              <a:rPr lang="en-US" dirty="0"/>
              <a:t> scheme</a:t>
            </a:r>
          </a:p>
          <a:p>
            <a:r>
              <a:rPr lang="en-US" dirty="0"/>
              <a:t>Make use of the styles of font / headings </a:t>
            </a:r>
            <a:r>
              <a:rPr lang="en-US" dirty="0" err="1"/>
              <a:t>etc</a:t>
            </a:r>
            <a:r>
              <a:rPr lang="en-US" dirty="0"/>
              <a:t> you intend to you</a:t>
            </a:r>
          </a:p>
          <a:p>
            <a:r>
              <a:rPr lang="en-US" dirty="0"/>
              <a:t>Make sure there is a </a:t>
            </a:r>
            <a:r>
              <a:rPr lang="en-US" dirty="0" err="1"/>
              <a:t>commentery</a:t>
            </a:r>
            <a:r>
              <a:rPr lang="en-US" dirty="0"/>
              <a:t> to go along with why it looks like it does (maybe compare it to competitors </a:t>
            </a:r>
            <a:r>
              <a:rPr lang="en-US" dirty="0" err="1"/>
              <a:t>etc</a:t>
            </a:r>
            <a:r>
              <a:rPr lang="en-US" dirty="0"/>
              <a:t>) and explain your decisions.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80478-39E2-8275-3898-538A8A4D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9FE86-D521-40FE-B3FB-61A4088D4427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11DEB-9A57-A86D-65D5-557C384C0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18781-E257-B072-4D8D-45F5DD963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653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AF4E-1A81-66BA-1868-210D178B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Designs - flowcharts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13DC9-59CE-A7CB-675D-7E8F9E3C1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You should use flowcharts to show the main flow through a process e.g. registration with password checking, checking for unique username etc. </a:t>
            </a:r>
          </a:p>
          <a:p>
            <a:endParaRPr lang="en-US" dirty="0"/>
          </a:p>
          <a:p>
            <a:r>
              <a:rPr lang="en-US" dirty="0"/>
              <a:t>This are not so much about smaller algorithms (like inserting into database or checking password </a:t>
            </a:r>
            <a:r>
              <a:rPr lang="en-US" dirty="0" err="1"/>
              <a:t>strenght</a:t>
            </a:r>
            <a:r>
              <a:rPr lang="en-US" dirty="0"/>
              <a:t>) but more about the bigger system like registering, producing analytics.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E189A-8612-1079-8084-FBE31844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32408-1158-4A68-B27C-B4CBCEAEC037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74B53-587D-2D99-F3D5-54BD2CFB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7CA3D-DE50-C8BC-7B38-0E5376C1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82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26E47-556A-152F-34B3-FDFDBC20F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Designs –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F57C5-459F-F414-C17E-52FCDAD60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Yes, you have to make use of pseudocode.</a:t>
            </a:r>
          </a:p>
          <a:p>
            <a:r>
              <a:rPr lang="en-US" dirty="0"/>
              <a:t>You can/should add in a flowchart too.. But you have to have pseudocode</a:t>
            </a:r>
          </a:p>
          <a:p>
            <a:r>
              <a:rPr lang="en-US" dirty="0"/>
              <a:t>You DO NOT need to design code to make the page appear </a:t>
            </a:r>
          </a:p>
          <a:p>
            <a:r>
              <a:rPr lang="en-US"/>
              <a:t>Just design code / algorithms that do something important e.g.</a:t>
            </a:r>
            <a:endParaRPr lang="en-US" dirty="0"/>
          </a:p>
          <a:p>
            <a:pPr lvl="1"/>
            <a:r>
              <a:rPr lang="en-US" b="0"/>
              <a:t>Connect to the database... design it</a:t>
            </a:r>
            <a:endParaRPr lang="en-US" b="0" dirty="0"/>
          </a:p>
          <a:p>
            <a:pPr lvl="1"/>
            <a:r>
              <a:rPr lang="en-US" b="0"/>
              <a:t>Insert to the database....design it</a:t>
            </a:r>
            <a:endParaRPr lang="en-US" b="0" dirty="0"/>
          </a:p>
          <a:p>
            <a:pPr lvl="1"/>
            <a:r>
              <a:rPr lang="en-US" b="0"/>
              <a:t>Get out of the database... design it</a:t>
            </a:r>
            <a:endParaRPr lang="en-US" b="0" dirty="0"/>
          </a:p>
          <a:p>
            <a:pPr lvl="1"/>
            <a:r>
              <a:rPr lang="en-US" b="0"/>
              <a:t>Process data from the database... design it</a:t>
            </a:r>
            <a:endParaRPr lang="en-US" b="0" dirty="0"/>
          </a:p>
          <a:p>
            <a:pPr lvl="1"/>
            <a:r>
              <a:rPr lang="en-US" b="0"/>
              <a:t>Process data from input.. Design it</a:t>
            </a:r>
            <a:endParaRPr lang="en-US" b="0" dirty="0"/>
          </a:p>
          <a:p>
            <a:pPr lvl="1"/>
            <a:endParaRPr lang="en-US" b="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7F3BC-C414-C598-30DB-41FFFD0F0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F000-0957-4D4C-9EF7-AD81B5BEC11D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7D995-5D34-884C-6AF6-BED81B39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FEC2E-C629-D77C-282B-7AA3FB3B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379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08F7-D182-4209-561F-EBACE50A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8462E-259D-AAED-547C-95CACBBAB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Develop a testing table of what you </a:t>
            </a:r>
            <a:br>
              <a:rPr lang="en-US" dirty="0"/>
            </a:br>
            <a:r>
              <a:rPr lang="en-US"/>
              <a:t>intend to test and how you will test it, </a:t>
            </a:r>
            <a:br>
              <a:rPr lang="en-US" dirty="0"/>
            </a:br>
            <a:r>
              <a:rPr lang="en-US"/>
              <a:t>including data you will use as part of </a:t>
            </a:r>
            <a:br>
              <a:rPr lang="en-US" dirty="0"/>
            </a:br>
            <a:r>
              <a:rPr lang="en-US"/>
              <a:t>the test. </a:t>
            </a:r>
          </a:p>
          <a:p>
            <a:r>
              <a:rPr lang="en-US"/>
              <a:t>Justify these tests and the data as to </a:t>
            </a:r>
            <a:br>
              <a:rPr lang="en-US" dirty="0"/>
            </a:br>
            <a:r>
              <a:rPr lang="en-US"/>
              <a:t>why they are good / useful.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3F676-59DC-CD75-6770-56ADFC09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3D79E-8439-4C1A-9764-181509CE27E1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54390-46F1-29AD-A7C5-02CC2CE0F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01448-17AA-D881-2CDE-DB4702331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13</a:t>
            </a:fld>
            <a:endParaRPr lang="en-US" dirty="0"/>
          </a:p>
        </p:txBody>
      </p:sp>
      <p:pic>
        <p:nvPicPr>
          <p:cNvPr id="7" name="Picture 6" descr="A table with text on it&#10;&#10;Description automatically generated">
            <a:extLst>
              <a:ext uri="{FF2B5EF4-FFF2-40B4-BE49-F238E27FC236}">
                <a16:creationId xmlns:a16="http://schemas.microsoft.com/office/drawing/2014/main" id="{553A18FF-04AB-1DAD-C86E-6891AB0D5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848" y="2110017"/>
            <a:ext cx="6515100" cy="465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5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DFB5-2B5A-ED2F-E97D-F8D98AD2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6C41-378F-68B5-AC9E-A2D7F13C4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Can someone else in the group build your solution from your design?</a:t>
            </a:r>
          </a:p>
          <a:p>
            <a:r>
              <a:rPr lang="en-US"/>
              <a:t>Have you linked each part of your design to your non-functional and functional requirements (use the numbers) and justified how it links / solves that requirement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3AD63-6744-CB94-E946-CC675AD44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92C34-F4B2-4A2C-8CEC-DA2416EE28B8}" type="datetime1">
              <a:t>11/6/2025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CDCB7-F0D3-65DD-ACBC-0C5316F63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076CD-08E6-6713-4C32-45EF22BF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83462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8AA2687650C7489F2FEF75993EAC27" ma:contentTypeVersion="18" ma:contentTypeDescription="Create a new document." ma:contentTypeScope="" ma:versionID="28c19bffd857169306197bbd60cccfdd">
  <xsd:schema xmlns:xsd="http://www.w3.org/2001/XMLSchema" xmlns:xs="http://www.w3.org/2001/XMLSchema" xmlns:p="http://schemas.microsoft.com/office/2006/metadata/properties" xmlns:ns2="a04d4b19-f621-4c3c-bc2e-e56ad8b8266c" xmlns:ns3="b9973ed0-ba7e-4bfb-a5d9-99b9d1a24c62" targetNamespace="http://schemas.microsoft.com/office/2006/metadata/properties" ma:root="true" ma:fieldsID="5a509b7c8a0014d4576d71ac2ee9d16d" ns2:_="" ns3:_="">
    <xsd:import namespace="a04d4b19-f621-4c3c-bc2e-e56ad8b8266c"/>
    <xsd:import namespace="b9973ed0-ba7e-4bfb-a5d9-99b9d1a24c62"/>
    <xsd:element name="properties">
      <xsd:complexType>
        <xsd:sequence>
          <xsd:element name="documentManagement">
            <xsd:complexType>
              <xsd:all>
                <xsd:element ref="ns2:mcb57dbb60604ce6a1cb56bc7737ae97" minOccurs="0"/>
                <xsd:element ref="ns2:TaxCatchAll" minOccurs="0"/>
                <xsd:element ref="ns2:a90ffa40902743bb99d67678a74fff05" minOccurs="0"/>
                <xsd:element ref="ns2:b3f45adbdd2a47258628f32c9c148486" minOccurs="0"/>
                <xsd:element ref="ns2:nb57963f19db43999fe03d95719ba5d2" minOccurs="0"/>
                <xsd:element ref="ns2:PersonalIdentificationData" minOccurs="0"/>
                <xsd:element ref="ns2:KeyStage" minOccurs="0"/>
                <xsd:element ref="ns2:Year" minOccurs="0"/>
                <xsd:element ref="ns2:Lesson" minOccurs="0"/>
                <xsd:element ref="ns2:CustomTags" minOccurs="0"/>
                <xsd:element ref="ns2:CurriculumSubject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d4b19-f621-4c3c-bc2e-e56ad8b8266c" elementFormDefault="qualified">
    <xsd:import namespace="http://schemas.microsoft.com/office/2006/documentManagement/types"/>
    <xsd:import namespace="http://schemas.microsoft.com/office/infopath/2007/PartnerControls"/>
    <xsd:element name="mcb57dbb60604ce6a1cb56bc7737ae97" ma:index="9" nillable="true" ma:taxonomy="true" ma:internalName="mcb57dbb60604ce6a1cb56bc7737ae97" ma:taxonomyFieldName="Topic" ma:displayName="Topic" ma:fieldId="{6cb57dbb-6060-4ce6-a1cb-56bc7737ae97}" ma:sspId="d1e1aebe-9980-4bd8-bca9-3cd8b19c1a26" ma:termSetId="71e609f5-4776-43e8-8bfd-5da4a1b1d2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17978799-9331-4147-b6f4-65d46b2e75e0}" ma:internalName="TaxCatchAll" ma:showField="CatchAllData" ma:web="a04d4b19-f621-4c3c-bc2e-e56ad8b8266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90ffa40902743bb99d67678a74fff05" ma:index="12" nillable="true" ma:taxonomy="true" ma:internalName="a90ffa40902743bb99d67678a74fff05" ma:taxonomyFieldName="Exam_x0020_Board" ma:displayName="Exam Board" ma:fieldId="{a90ffa40-9027-43bb-99d6-7678a74fff05}" ma:sspId="d1e1aebe-9980-4bd8-bca9-3cd8b19c1a26" ma:termSetId="e02c9b1f-1fde-4376-8025-8fa9567ac8b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3f45adbdd2a47258628f32c9c148486" ma:index="14" nillable="true" ma:taxonomy="true" ma:internalName="b3f45adbdd2a47258628f32c9c148486" ma:taxonomyFieldName="Week" ma:displayName="Week" ma:fieldId="{b3f45adb-dd2a-4725-8628-f32c9c148486}" ma:sspId="d1e1aebe-9980-4bd8-bca9-3cd8b19c1a26" ma:termSetId="831d8c1a-a70e-4f31-aebe-526f4506a9a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b57963f19db43999fe03d95719ba5d2" ma:index="16" nillable="true" ma:taxonomy="true" ma:internalName="nb57963f19db43999fe03d95719ba5d2" ma:taxonomyFieldName="Term" ma:displayName="Term" ma:fieldId="{7b57963f-19db-4399-9fe0-3d95719ba5d2}" ma:sspId="d1e1aebe-9980-4bd8-bca9-3cd8b19c1a26" ma:termSetId="9a8ac47f-3a28-4f5d-ac1e-a09b65b5560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ersonalIdentificationData" ma:index="17" nillable="true" ma:displayName="Personal Identification Data" ma:internalName="Personal_x0020_Identification_x0020_Data">
      <xsd:simpleType>
        <xsd:restriction base="dms:Choice">
          <xsd:enumeration value="No"/>
          <xsd:enumeration value="Yes"/>
        </xsd:restriction>
      </xsd:simpleType>
    </xsd:element>
    <xsd:element name="KeyStage" ma:index="18" nillable="true" ma:displayName="Key Stage" ma:internalName="Key_x0020_Stage">
      <xsd:simpleType>
        <xsd:restriction base="dms:Text"/>
      </xsd:simpleType>
    </xsd:element>
    <xsd:element name="Year" ma:index="19" nillable="true" ma:displayName="Year" ma:internalName="Year">
      <xsd:simpleType>
        <xsd:restriction base="dms:Text"/>
      </xsd:simpleType>
    </xsd:element>
    <xsd:element name="Lesson" ma:index="20" nillable="true" ma:displayName="Lesson" ma:internalName="Lesson">
      <xsd:simpleType>
        <xsd:restriction base="dms:Text"/>
      </xsd:simpleType>
    </xsd:element>
    <xsd:element name="CustomTags" ma:index="21" nillable="true" ma:displayName="Custom Tags" ma:internalName="Custom_x0020_Tags">
      <xsd:simpleType>
        <xsd:restriction base="dms:Text"/>
      </xsd:simpleType>
    </xsd:element>
    <xsd:element name="CurriculumSubject" ma:index="22" nillable="true" ma:displayName="Curriculum Subject" ma:default="T-level Digital" ma:internalName="Curriculum_x0020_Subject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973ed0-ba7e-4bfb-a5d9-99b9d1a24c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urriculumSubject xmlns="a04d4b19-f621-4c3c-bc2e-e56ad8b8266c">T-level Digital</CurriculumSubject>
    <a90ffa40902743bb99d67678a74fff05 xmlns="a04d4b19-f621-4c3c-bc2e-e56ad8b8266c">
      <Terms xmlns="http://schemas.microsoft.com/office/infopath/2007/PartnerControls"/>
    </a90ffa40902743bb99d67678a74fff05>
    <nb57963f19db43999fe03d95719ba5d2 xmlns="a04d4b19-f621-4c3c-bc2e-e56ad8b8266c">
      <Terms xmlns="http://schemas.microsoft.com/office/infopath/2007/PartnerControls"/>
    </nb57963f19db43999fe03d95719ba5d2>
    <Year xmlns="a04d4b19-f621-4c3c-bc2e-e56ad8b8266c" xsi:nil="true"/>
    <KeyStage xmlns="a04d4b19-f621-4c3c-bc2e-e56ad8b8266c" xsi:nil="true"/>
    <PersonalIdentificationData xmlns="a04d4b19-f621-4c3c-bc2e-e56ad8b8266c" xsi:nil="true"/>
    <TaxCatchAll xmlns="a04d4b19-f621-4c3c-bc2e-e56ad8b8266c" xsi:nil="true"/>
    <Lesson xmlns="a04d4b19-f621-4c3c-bc2e-e56ad8b8266c" xsi:nil="true"/>
    <CustomTags xmlns="a04d4b19-f621-4c3c-bc2e-e56ad8b8266c" xsi:nil="true"/>
    <mcb57dbb60604ce6a1cb56bc7737ae97 xmlns="a04d4b19-f621-4c3c-bc2e-e56ad8b8266c">
      <Terms xmlns="http://schemas.microsoft.com/office/infopath/2007/PartnerControls"/>
    </mcb57dbb60604ce6a1cb56bc7737ae97>
    <b3f45adbdd2a47258628f32c9c148486 xmlns="a04d4b19-f621-4c3c-bc2e-e56ad8b8266c">
      <Terms xmlns="http://schemas.microsoft.com/office/infopath/2007/PartnerControls"/>
    </b3f45adbdd2a47258628f32c9c148486>
  </documentManagement>
</p:properties>
</file>

<file path=customXml/itemProps1.xml><?xml version="1.0" encoding="utf-8"?>
<ds:datastoreItem xmlns:ds="http://schemas.openxmlformats.org/officeDocument/2006/customXml" ds:itemID="{88390CC6-51C0-4069-8D94-94CC0DA93A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4d4b19-f621-4c3c-bc2e-e56ad8b8266c"/>
    <ds:schemaRef ds:uri="b9973ed0-ba7e-4bfb-a5d9-99b9d1a24c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EA08AD-D849-4E25-886D-94F258ABD9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93EC12-5343-44DF-84AF-9593AA479E22}">
  <ds:schemaRefs>
    <ds:schemaRef ds:uri="http://schemas.microsoft.com/office/2006/metadata/properties"/>
    <ds:schemaRef ds:uri="http://schemas.microsoft.com/office/infopath/2007/PartnerControls"/>
    <ds:schemaRef ds:uri="a04d4b19-f621-4c3c-bc2e-e56ad8b8266c"/>
    <ds:schemaRef ds:uri="cd186e81-9251-4aad-9103-4c6d14f9fcf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PortalVTI</vt:lpstr>
      <vt:lpstr>Design documentation</vt:lpstr>
      <vt:lpstr>What is a design pack?</vt:lpstr>
      <vt:lpstr>Organisation of your designs</vt:lpstr>
      <vt:lpstr>Overview / Decomposition diagram</vt:lpstr>
      <vt:lpstr>ER Diagram for your database</vt:lpstr>
      <vt:lpstr>Data flow diagram</vt:lpstr>
      <vt:lpstr>Table structure (data Dictionary)</vt:lpstr>
      <vt:lpstr>Data Structures / Variables list</vt:lpstr>
      <vt:lpstr>Colour Scheme</vt:lpstr>
      <vt:lpstr>Interface designs</vt:lpstr>
      <vt:lpstr>Algorithm Designs - flowcharts</vt:lpstr>
      <vt:lpstr>Algorithm Designs – pseudocode</vt:lpstr>
      <vt:lpstr>Test strategy</vt:lpstr>
      <vt:lpstr>TIPS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223</cp:revision>
  <dcterms:created xsi:type="dcterms:W3CDTF">2024-12-18T10:52:38Z</dcterms:created>
  <dcterms:modified xsi:type="dcterms:W3CDTF">2025-11-06T20:57:28Z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0x010100228AA2687650C7489F2FEF75993EAC27</vt:lpwstr>
  </property>
  <property fmtid="{D5CDD505-2E9C-101B-9397-08002B2CF9AE}" pid="3" name="Staff Category">
    <vt:lpwstr/>
  </property>
  <property fmtid="{D5CDD505-2E9C-101B-9397-08002B2CF9AE}" pid="4" name="Topic">
    <vt:lpwstr/>
  </property>
  <property fmtid="{D5CDD505-2E9C-101B-9397-08002B2CF9AE}" pid="5" name="MediaServiceImageTags">
    <vt:lpwstr/>
  </property>
  <property fmtid="{D5CDD505-2E9C-101B-9397-08002B2CF9AE}" pid="6" name="Term">
    <vt:lpwstr/>
  </property>
  <property fmtid="{D5CDD505-2E9C-101B-9397-08002B2CF9AE}" pid="7" name="Week">
    <vt:lpwstr/>
  </property>
  <property fmtid="{D5CDD505-2E9C-101B-9397-08002B2CF9AE}" pid="8" name="Exam Board">
    <vt:lpwstr/>
  </property>
  <property fmtid="{D5CDD505-2E9C-101B-9397-08002B2CF9AE}" pid="9" name="Staff_x0020_Category">
    <vt:lpwstr/>
  </property>
  <property fmtid="{D5CDD505-2E9C-101B-9397-08002B2CF9AE}" pid="10" name="Exam_x0020_Board">
    <vt:lpwstr/>
  </property>
</Properties>
</file>